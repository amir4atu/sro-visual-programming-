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Inter"/>
      <ns0:bold ns1:id="rIdFont15"/>
      <ns0:regular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094fbd38-7c3c-437a-8b0a-dfff6dc02d6b.fntdata" /><ns0:Relationship Id="rIdFont16" Type="http://schemas.openxmlformats.org/officeDocument/2006/relationships/font" Target="fonts/a69d79e2-7bf7-4c5a-9fde-d40ab0ec4a9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83483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85069"/>
            <a:ext cx="3048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518469"/>
            <a:ext cx="8601075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FFFFFF"/>
                </a:solidFill>
                <a:latin typeface="Inter"/>
              </a:rPr>
              <a:t>Адресная книга нового поколения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82330"/>
            <a:ext cx="6286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Централизованное управление контактами, сегментация по группам, мгновенный поиск и надежное редактирование.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2042219"/>
            <a:ext cx="30837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CONTACT MANAGER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71800"/>
            <a:ext cx="5334000" cy="1828800"/>
          </a:xfrm>
          <a:prstGeom prst="roundRect">
            <a:avLst>
              <a:gd name="adj" fmla="val 41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71800"/>
            <a:ext cx="5334000" cy="1828800"/>
          </a:xfrm>
          <a:prstGeom prst="roundRect">
            <a:avLst>
              <a:gd name="adj" fmla="val 4166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971800"/>
            <a:ext cx="38100" cy="18288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2971800"/>
            <a:ext cx="38100" cy="18288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276600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3276600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АРХИТЕКТУРА РЕШЕНИЯ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От хаоса к организованной базе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695700"/>
            <a:ext cx="61507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Проблема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038600"/>
            <a:ext cx="4781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Дубликаты, потерянные номера и отсутствующая структура замедляют работу и приводят к ошибкам в коммуникации.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3695700"/>
            <a:ext cx="5600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Решение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4038600"/>
            <a:ext cx="4781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Contact Manager обединяет все данные в единый структурированный реестр с мгновенным доступом.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09912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09912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09912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376612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37661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376612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ФУНКЦИОНАЛЬНОСТЬ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Ключевые возможности приложения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833812"/>
            <a:ext cx="39004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Группировка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110037"/>
            <a:ext cx="306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Категоризация по категориям: Коллеги, Семья, VIP-клиенты.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833812"/>
            <a:ext cx="39004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Умный поиск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4110037"/>
            <a:ext cx="306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Поиск за миллисекунды по имени, телефону, email и тегам.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833812"/>
            <a:ext cx="3848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Редактирование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4110037"/>
            <a:ext cx="306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Гибкое добавление полей, история изменений и чистка дублей.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81700" y="3019425"/>
            <a:ext cx="5600700" cy="1733550"/>
          </a:xfrm>
          <a:prstGeom prst="roundRect">
            <a:avLst>
              <a:gd name="adj" fmla="val 659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48012"/>
            <a:ext cx="17145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29037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310062"/>
            <a:ext cx="1524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СТРУКТУРИРОВАНИЕ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Группы и сегментация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324225"/>
            <a:ext cx="13620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Inter"/>
              </a:rPr>
              <a:t>Отдел продаж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3324225"/>
            <a:ext cx="12763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142 контакта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3790950"/>
            <a:ext cx="14644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Inter"/>
              </a:rPr>
              <a:t>Партнеры &amp; VIP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7950" y="3790950"/>
            <a:ext cx="1295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28 контактов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4257675"/>
            <a:ext cx="1631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Inter"/>
              </a:rPr>
              <a:t>Личные контакты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67950" y="4257675"/>
            <a:ext cx="1295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85 контактов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3109912"/>
            <a:ext cx="394335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Иерархические категории: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690937"/>
            <a:ext cx="354330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Множественные теги: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271962"/>
            <a:ext cx="388620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Динамические списки: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" y="3319462"/>
            <a:ext cx="4810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Вложенные подгруппы для сложных бизнес-структур.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3900487"/>
            <a:ext cx="4310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Присвоение нескольких меток одному контакту.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4481512"/>
            <a:ext cx="4738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Автоматическая фильтрация по заданным критериям.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Скорость и эффективность поиска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24387" y="2947987"/>
            <a:ext cx="3679031" cy="952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b="1" sz="7500" i="0" u="none">
                <a:solidFill>
                  <a:srgbClr val="0284C7"/>
                </a:solidFill>
                <a:latin typeface="Inter"/>
              </a:rPr>
              <a:t>&lt; 0.1 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4052887"/>
            <a:ext cx="7143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Среднее время отклика при поиске по базе из 50,000+ записей благодаря индексации данных.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28987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38500"/>
            <a:ext cx="3505200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328987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ТОЧНОСТЬ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Редактирование и актуализация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605212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Карточка контакта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81437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Кастомные поля: социальные сети, мессенджеры, дни рождения, заметки.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14725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Управление дублями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90950"/>
            <a:ext cx="3048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Автоматическое обнаружение и безопасное объединение совпадающих карточек.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605212"/>
            <a:ext cx="3838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Резервное копирование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81437"/>
            <a:ext cx="304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Экспорт/импорт в формате vCard, CSV, JSON с восстановлением историй.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133600"/>
            <a:ext cx="5334000" cy="3429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133600"/>
            <a:ext cx="5334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ИНТЕРФЕЙС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Лаконичный и интуитивный дизайн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390453"/>
            <a:ext cx="54292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Чистый UI исключает визуальный шум и позволяет сфокусироваться на быстрой работе с записями.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091433"/>
            <a:ext cx="6667500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Полная адаптивность под мобильные устройства, планшеты и десктоп.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381500"/>
            <a:ext cx="4572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447925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14427" y="3133725"/>
            <a:ext cx="5163145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Inter"/>
              </a:rPr>
              <a:t>Contact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3046" y="3848100"/>
            <a:ext cx="53459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Ваша адресная книга под полным контролем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